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3"/>
    <p:sldId id="257" r:id="rId4"/>
    <p:sldId id="258" r:id="rId5"/>
    <p:sldId id="259" r:id="rId6"/>
    <p:sldId id="266" r:id="rId7"/>
    <p:sldId id="262" r:id="rId8"/>
    <p:sldId id="263" r:id="rId9"/>
    <p:sldId id="264" r:id="rId11"/>
    <p:sldId id="267" r:id="rId12"/>
    <p:sldId id="265" r:id="rId13"/>
    <p:sldId id="268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比如整数转换成浮点数</a:t>
            </a:r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tags" Target="../tags/tag66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9.xml"/><Relationship Id="rId2" Type="http://schemas.openxmlformats.org/officeDocument/2006/relationships/tags" Target="../tags/tag68.xml"/><Relationship Id="rId1" Type="http://schemas.openxmlformats.org/officeDocument/2006/relationships/tags" Target="../tags/tag67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2.xml"/><Relationship Id="rId2" Type="http://schemas.openxmlformats.org/officeDocument/2006/relationships/tags" Target="../tags/tag71.xml"/><Relationship Id="rId1" Type="http://schemas.openxmlformats.org/officeDocument/2006/relationships/tags" Target="../tags/tag70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76.xml"/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" Type="http://schemas.openxmlformats.org/officeDocument/2006/relationships/tags" Target="../tags/tag73.xml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tags" Target="../tags/tag80.xml"/><Relationship Id="rId5" Type="http://schemas.openxmlformats.org/officeDocument/2006/relationships/tags" Target="../tags/tag79.xml"/><Relationship Id="rId4" Type="http://schemas.openxmlformats.org/officeDocument/2006/relationships/hyperlink" Target="https://github.com/davidtwco/rust/pull/2" TargetMode="External"/><Relationship Id="rId3" Type="http://schemas.openxmlformats.org/officeDocument/2006/relationships/tags" Target="../tags/tag78.xml"/><Relationship Id="rId2" Type="http://schemas.openxmlformats.org/officeDocument/2006/relationships/image" Target="../media/image1.png"/><Relationship Id="rId1" Type="http://schemas.openxmlformats.org/officeDocument/2006/relationships/tags" Target="../tags/tag77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3.xml"/><Relationship Id="rId2" Type="http://schemas.openxmlformats.org/officeDocument/2006/relationships/tags" Target="../tags/tag82.xml"/><Relationship Id="rId1" Type="http://schemas.openxmlformats.org/officeDocument/2006/relationships/tags" Target="../tags/tag81.xml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2.xml"/><Relationship Id="rId3" Type="http://schemas.openxmlformats.org/officeDocument/2006/relationships/tags" Target="../tags/tag86.xml"/><Relationship Id="rId2" Type="http://schemas.openxmlformats.org/officeDocument/2006/relationships/tags" Target="../tags/tag85.xml"/><Relationship Id="rId1" Type="http://schemas.openxmlformats.org/officeDocument/2006/relationships/tags" Target="../tags/tag84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9.xml"/><Relationship Id="rId2" Type="http://schemas.openxmlformats.org/officeDocument/2006/relationships/tags" Target="../tags/tag88.xml"/><Relationship Id="rId1" Type="http://schemas.openxmlformats.org/officeDocument/2006/relationships/tags" Target="../tags/tag87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92.xml"/><Relationship Id="rId2" Type="http://schemas.openxmlformats.org/officeDocument/2006/relationships/tags" Target="../tags/tag91.xml"/><Relationship Id="rId1" Type="http://schemas.openxmlformats.org/officeDocument/2006/relationships/tags" Target="../tags/tag90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95.xml"/><Relationship Id="rId2" Type="http://schemas.openxmlformats.org/officeDocument/2006/relationships/tags" Target="../tags/tag94.xml"/><Relationship Id="rId1" Type="http://schemas.openxmlformats.org/officeDocument/2006/relationships/tags" Target="../tags/tag93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98.xml"/><Relationship Id="rId2" Type="http://schemas.openxmlformats.org/officeDocument/2006/relationships/tags" Target="../tags/tag97.xml"/><Relationship Id="rId1" Type="http://schemas.openxmlformats.org/officeDocument/2006/relationships/tags" Target="../tags/tag9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6340" y="2343150"/>
            <a:ext cx="9799320" cy="1426845"/>
          </a:xfrm>
        </p:spPr>
        <p:txBody>
          <a:bodyPr/>
          <a:p>
            <a:r>
              <a:rPr lang="en-US" altLang="zh-CN" sz="3200"/>
              <a:t>——</a:t>
            </a:r>
            <a:r>
              <a:rPr lang="zh-CN" altLang="en-US" sz="3200"/>
              <a:t>在</a:t>
            </a:r>
            <a:r>
              <a:rPr lang="en-US" altLang="zh-CN" sz="3200"/>
              <a:t>Rust</a:t>
            </a:r>
            <a:r>
              <a:rPr lang="zh-CN" altLang="en-US" sz="3200"/>
              <a:t>编译器标准库中集成</a:t>
            </a:r>
            <a:r>
              <a:rPr lang="en-US" altLang="zh-CN" sz="3200"/>
              <a:t>Aarch64 SVE</a:t>
            </a:r>
            <a:r>
              <a:rPr lang="zh-CN" altLang="en-US" sz="3200"/>
              <a:t>类型和</a:t>
            </a:r>
            <a:r>
              <a:rPr lang="en-US" altLang="zh-CN" sz="3200"/>
              <a:t>Intrinsics</a:t>
            </a:r>
            <a:endParaRPr lang="zh-CN" altLang="en-US" sz="320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3804920" y="4241800"/>
            <a:ext cx="5621655" cy="1472565"/>
          </a:xfrm>
        </p:spPr>
        <p:txBody>
          <a:bodyPr>
            <a:normAutofit lnSpcReduction="10000"/>
          </a:bodyPr>
          <a:p>
            <a:pPr algn="l"/>
            <a:r>
              <a:rPr lang="zh-CN" altLang="en-US">
                <a:solidFill>
                  <a:schemeClr val="tx1"/>
                </a:solidFill>
              </a:rPr>
              <a:t>部门：编译器实验室（</a:t>
            </a:r>
            <a:r>
              <a:rPr lang="en-US" altLang="zh-CN">
                <a:solidFill>
                  <a:schemeClr val="tx1"/>
                </a:solidFill>
              </a:rPr>
              <a:t>2012</a:t>
            </a:r>
            <a:r>
              <a:rPr lang="zh-CN" altLang="en-US">
                <a:solidFill>
                  <a:schemeClr val="tx1"/>
                </a:solidFill>
              </a:rPr>
              <a:t>实验室）</a:t>
            </a:r>
            <a:endParaRPr lang="zh-CN" altLang="en-US">
              <a:solidFill>
                <a:schemeClr val="tx1"/>
              </a:solidFill>
            </a:endParaRPr>
          </a:p>
          <a:p>
            <a:pPr algn="l"/>
            <a:r>
              <a:rPr lang="zh-CN" altLang="en-US">
                <a:solidFill>
                  <a:schemeClr val="tx1"/>
                </a:solidFill>
              </a:rPr>
              <a:t>作者：汪旭辉</a:t>
            </a:r>
            <a:endParaRPr lang="zh-CN" altLang="en-US">
              <a:solidFill>
                <a:schemeClr val="tx1"/>
              </a:solidFill>
            </a:endParaRPr>
          </a:p>
          <a:p>
            <a:pPr algn="l"/>
            <a:r>
              <a:rPr lang="zh-CN" altLang="en-US">
                <a:solidFill>
                  <a:schemeClr val="tx1"/>
                </a:solidFill>
              </a:rPr>
              <a:t>日期：</a:t>
            </a:r>
            <a:r>
              <a:rPr lang="en-US" altLang="zh-CN">
                <a:solidFill>
                  <a:schemeClr val="tx1"/>
                </a:solidFill>
              </a:rPr>
              <a:t>2025.12.4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4" name="标题 1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615315" y="812800"/>
            <a:ext cx="10645775" cy="1250950"/>
          </a:xfrm>
          <a:prstGeom prst="rect">
            <a:avLst/>
          </a:prstGeom>
        </p:spPr>
        <p:txBody>
          <a:bodyPr vert="horz" lIns="90000" tIns="46800" rIns="90000" bIns="46800" rtlCol="0" anchor="b" anchorCtr="0"/>
          <a:lstStyle>
            <a:lvl1pPr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60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54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Rust SVE </a:t>
            </a:r>
            <a:r>
              <a:rPr lang="zh-CN" altLang="en-US" sz="54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集成工作阶段性汇报</a:t>
            </a:r>
            <a:endParaRPr lang="zh-CN" altLang="en-US" sz="5400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4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990725" y="1153160"/>
            <a:ext cx="5487670" cy="705485"/>
          </a:xfrm>
        </p:spPr>
        <p:txBody>
          <a:bodyPr>
            <a:noAutofit/>
          </a:bodyPr>
          <a:p>
            <a:r>
              <a:rPr lang="zh-CN" altLang="en-US" sz="6000" b="1"/>
              <a:t>目录</a:t>
            </a:r>
            <a:endParaRPr lang="zh-CN" altLang="en-US" sz="6000" b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1990725" y="2174875"/>
            <a:ext cx="9262745" cy="3520440"/>
          </a:xfrm>
        </p:spPr>
        <p:txBody>
          <a:bodyPr/>
          <a:p>
            <a:pPr marL="0" indent="0">
              <a:buNone/>
            </a:pPr>
            <a:r>
              <a:rPr lang="zh-CN" altLang="en-US" sz="4800">
                <a:solidFill>
                  <a:schemeClr val="tx1"/>
                </a:solidFill>
              </a:rPr>
              <a:t>一、项目概况</a:t>
            </a:r>
            <a:endParaRPr lang="zh-CN" altLang="en-US" sz="480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zh-CN" altLang="en-US" sz="4800">
                <a:solidFill>
                  <a:schemeClr val="tx1"/>
                </a:solidFill>
              </a:rPr>
              <a:t>二、关键难点与解决方案</a:t>
            </a:r>
            <a:endParaRPr lang="zh-CN" altLang="en-US" sz="480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zh-CN" altLang="en-US" sz="4800">
                <a:solidFill>
                  <a:schemeClr val="tx1"/>
                </a:solidFill>
              </a:rPr>
              <a:t>三、总结与展望</a:t>
            </a:r>
            <a:endParaRPr lang="zh-CN" altLang="en-US" sz="4800">
              <a:solidFill>
                <a:schemeClr val="tx1"/>
              </a:solidFill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b="1"/>
              <a:t>一、项目概况</a:t>
            </a:r>
            <a:endParaRPr lang="zh-CN" altLang="en-US" b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320040" y="1399540"/>
            <a:ext cx="11447145" cy="4983480"/>
          </a:xfrm>
        </p:spPr>
        <p:txBody>
          <a:bodyPr>
            <a:noAutofit/>
          </a:bodyPr>
          <a:p>
            <a:pPr marL="0" indent="0" algn="l">
              <a:lnSpc>
                <a:spcPct val="130000"/>
              </a:lnSpc>
              <a:buNone/>
            </a:pP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项目背景：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本项目基于</a:t>
            </a:r>
            <a:r>
              <a:rPr lang="en-US" altLang="zh-CN" sz="2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RFC 3838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</a:t>
            </a:r>
            <a:r>
              <a:rPr lang="en-US" altLang="zh-CN" sz="2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PR143924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开展工作，</a:t>
            </a:r>
            <a:r>
              <a:rPr lang="en-US" altLang="zh-CN" sz="2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RFC 3838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引入了一个新属性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[rustc_scalable_vector(N)]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lang="en-US" altLang="zh-CN" sz="2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PR143924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初步实现了该属性。</a:t>
            </a:r>
            <a:endParaRPr lang="en-US" altLang="zh-CN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l">
              <a:lnSpc>
                <a:spcPct val="130000"/>
              </a:lnSpc>
              <a:spcBef>
                <a:spcPts val="1500"/>
              </a:spcBef>
              <a:buNone/>
            </a:pP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项目目标：</a:t>
            </a:r>
            <a:endParaRPr lang="zh-CN" altLang="en-US" sz="24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l">
              <a:lnSpc>
                <a:spcPct val="130000"/>
              </a:lnSpc>
              <a:buNone/>
            </a:pP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Rust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stdarch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框架中完整接入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Aarch64 SVE/SVE2 (Scalable Vector Extension)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的可扩展向量类型和对应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Intrinsics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altLang="en-US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l">
              <a:lnSpc>
                <a:spcPct val="130000"/>
              </a:lnSpc>
              <a:buNone/>
            </a:pP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使编译器在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AArch64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目标上能够正确处理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[rustc_scalable_vector(N)]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这类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可扩展向量类型，并在标准库中对外提供稳定的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类型与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Intrinsics API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altLang="en-US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b="1">
                <a:sym typeface="+mn-ea"/>
              </a:rPr>
              <a:t>一、项目概况</a:t>
            </a:r>
            <a:endParaRPr lang="zh-CN" altLang="en-US" b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490345"/>
            <a:ext cx="6725920" cy="648970"/>
          </a:xfrm>
        </p:spPr>
        <p:txBody>
          <a:bodyPr/>
          <a:p>
            <a:pPr marL="0" indent="0">
              <a:buNone/>
            </a:pP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Rust 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社区对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 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的整体推进情况：</a:t>
            </a:r>
            <a:endParaRPr lang="zh-CN" altLang="en-US" sz="24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内容占位符 2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476885" y="2139315"/>
            <a:ext cx="11100435" cy="4309745"/>
          </a:xfrm>
          <a:prstGeom prst="rect">
            <a:avLst/>
          </a:prstGeom>
        </p:spPr>
        <p:txBody>
          <a:bodyPr vert="horz" lIns="90000" tIns="46800" rIns="90000" bIns="46800" rtlCol="0"/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500"/>
              </a:spcBef>
              <a:spcAft>
                <a:spcPts val="1500"/>
              </a:spcAft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SVE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项目级目标：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2025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年官方将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“AArch64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上的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SVE/SME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与可扩展向量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列为重点目标，推进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nightly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实验类型、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stdarch Intrinsics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及通用可扩展向量基础设施。</a:t>
            </a:r>
            <a:endParaRPr lang="en-US" altLang="zh-CN" sz="20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Bef>
                <a:spcPts val="1500"/>
              </a:spcBef>
              <a:spcAft>
                <a:spcPts val="1500"/>
              </a:spcAft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Sized Trait Hierarchy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基础设施：基于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RFC 3729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Sized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层级已进入实验实现阶段，作为支持可扩展向量等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非常规尺寸类型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的关键类型系统基础。</a:t>
            </a:r>
            <a:endParaRPr lang="en-US" altLang="zh-CN" sz="20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Bef>
                <a:spcPts val="1500"/>
              </a:spcBef>
              <a:spcAft>
                <a:spcPts val="1500"/>
              </a:spcAft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Scalable Vectors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表示：社区以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RFC 3838 + #[rustc_scalable_vector(N)]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为方向，提出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Tracking Issue 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#145052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，将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Scalable Vectors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作为独立项目推进，后续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围绕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SVE/RVV Intrinsics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进行试验与稳定化设计。</a:t>
            </a:r>
            <a:endParaRPr lang="zh-CN" altLang="en-US" sz="20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4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b="1"/>
              <a:t>一、项目概况</a:t>
            </a:r>
            <a:endParaRPr lang="zh-CN" altLang="en-US" b="1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395" y="2995295"/>
            <a:ext cx="4676775" cy="3749675"/>
          </a:xfrm>
          <a:prstGeom prst="rect">
            <a:avLst/>
          </a:prstGeom>
          <a:ln>
            <a:solidFill>
              <a:schemeClr val="bg2"/>
            </a:solidFill>
          </a:ln>
        </p:spPr>
      </p:pic>
      <p:sp>
        <p:nvSpPr>
          <p:cNvPr id="5" name="内容占位符 4"/>
          <p:cNvSpPr/>
          <p:nvPr>
            <p:ph idx="1"/>
            <p:custDataLst>
              <p:tags r:id="rId3"/>
            </p:custDataLst>
          </p:nvPr>
        </p:nvSpPr>
        <p:spPr>
          <a:xfrm>
            <a:off x="381070" y="1194490"/>
            <a:ext cx="10969200" cy="4759200"/>
          </a:xfrm>
        </p:spPr>
        <p:txBody>
          <a:bodyPr/>
          <a:p>
            <a:pPr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zh-CN" altLang="en-US" sz="2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类型与</a:t>
            </a:r>
            <a:r>
              <a:rPr lang="en-US" altLang="zh-CN" sz="2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Intrinsics </a:t>
            </a:r>
            <a:r>
              <a:rPr lang="zh-CN" altLang="en-US" sz="2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集成进度：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类型已全部接入，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1852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SVE/SVE2 Intrinsics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已完成集成。</a:t>
            </a:r>
            <a:endParaRPr lang="zh-CN" altLang="en-US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zh-CN" altLang="en-US" sz="2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编译链路状态：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类型定义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Intrinsics 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封装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源码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编译生成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IR</a:t>
            </a:r>
            <a:r>
              <a:rPr lang="en-US" altLang="zh-CN" sz="2400" b="1">
                <a:solidFill>
                  <a:srgbClr val="00B0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的链路已打通，相关编译错误已解决。</a:t>
            </a:r>
            <a:endParaRPr lang="zh-CN" altLang="en-US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50000"/>
              </a:lnSpc>
            </a:pPr>
            <a:endParaRPr lang="zh-CN" altLang="en-US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hlinkClick r:id="rId4" action="ppaction://hlinkfile"/>
            </a:endParaRPr>
          </a:p>
        </p:txBody>
      </p:sp>
      <p:sp>
        <p:nvSpPr>
          <p:cNvPr id="8" name="内容占位符 4"/>
          <p:cNvSpPr/>
          <p:nvPr>
            <p:custDataLst>
              <p:tags r:id="rId5"/>
            </p:custDataLst>
          </p:nvPr>
        </p:nvSpPr>
        <p:spPr>
          <a:xfrm>
            <a:off x="381000" y="3641725"/>
            <a:ext cx="6856730" cy="2360295"/>
          </a:xfrm>
          <a:prstGeom prst="rect">
            <a:avLst/>
          </a:prstGeom>
        </p:spPr>
        <p:txBody>
          <a:bodyPr vert="horz" lIns="90000" tIns="46800" rIns="90000" bIns="46800" rtlCol="0"/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zh-CN" altLang="en-US" sz="2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社区工作：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已基于本地分支工作提交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PR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至社区</a:t>
            </a:r>
            <a:endParaRPr lang="zh-CN" altLang="en-US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en-US" altLang="zh-CN" sz="2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  <a:hlinkClick r:id="rId4" action="ppaction://hlinkfile"/>
              </a:rPr>
              <a:t>Integrate Arm SVE types and intrinsics into stdarch</a:t>
            </a:r>
            <a:endParaRPr lang="en-US" altLang="zh-CN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  <a:hlinkClick r:id="rId4" action="ppaction://hlinkfile"/>
            </a:endParaRPr>
          </a:p>
        </p:txBody>
      </p:sp>
    </p:spTree>
    <p:custDataLst>
      <p:tags r:id="rId6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b="1">
                <a:solidFill>
                  <a:schemeClr val="tx1"/>
                </a:solidFill>
                <a:sym typeface="+mn-ea"/>
              </a:rPr>
              <a:t>二、关键难点与解决方案</a:t>
            </a:r>
            <a:endParaRPr lang="zh-CN" altLang="en-US" b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490345"/>
            <a:ext cx="10968990" cy="4966970"/>
          </a:xfrm>
        </p:spPr>
        <p:txBody>
          <a:bodyPr>
            <a:noAutofit/>
          </a:bodyPr>
          <a:p>
            <a:pPr marL="0" indent="0">
              <a:spcBef>
                <a:spcPts val="1500"/>
              </a:spcBef>
              <a:spcAft>
                <a:spcPts val="1500"/>
              </a:spcAft>
              <a:buNone/>
            </a:pPr>
            <a:r>
              <a:rPr lang="zh-CN" altLang="en-US" sz="28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关键技术难点</a:t>
            </a:r>
            <a:endParaRPr lang="zh-CN" altLang="en-US" sz="28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spcBef>
                <a:spcPts val="1500"/>
              </a:spcBef>
              <a:spcAft>
                <a:spcPts val="1500"/>
              </a:spcAft>
              <a:buNone/>
            </a:pP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Rust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编译器不能直接兼容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SVE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这种可变长度向量，主要有三个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兼容性相关问题：</a:t>
            </a:r>
            <a:endParaRPr lang="en-US" altLang="zh-CN" sz="24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indent="-457200">
              <a:spcBef>
                <a:spcPts val="1500"/>
              </a:spcBef>
              <a:spcAft>
                <a:spcPts val="1500"/>
              </a:spcAft>
              <a:buFont typeface="+mj-lt"/>
              <a:buAutoNum type="arabicPeriod"/>
            </a:pP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类型转换受限：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编译器只支持旧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SIMD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类型，不认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新的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SVE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</a:t>
            </a:r>
            <a:endParaRPr lang="en-US" altLang="zh-CN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indent="-457200">
              <a:spcBef>
                <a:spcPts val="1500"/>
              </a:spcBef>
              <a:spcAft>
                <a:spcPts val="1500"/>
              </a:spcAft>
              <a:buFont typeface="+mj-lt"/>
              <a:buAutoNum type="arabicPeriod"/>
            </a:pP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谓词类型不一致：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有多种谓词格式，难以在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Rust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中抽象成统一接口</a:t>
            </a:r>
            <a:endParaRPr lang="en-US" altLang="zh-CN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indent="-457200">
              <a:spcBef>
                <a:spcPts val="1500"/>
              </a:spcBef>
              <a:spcAft>
                <a:spcPts val="1500"/>
              </a:spcAft>
              <a:buFont typeface="+mj-lt"/>
              <a:buAutoNum type="arabicPeriod"/>
            </a:pP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SVE 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函数数量繁多：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Intrinsics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手写易错、易冲突，难以长期维护</a:t>
            </a:r>
            <a:endParaRPr lang="zh-CN" altLang="en-US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b="1">
                <a:solidFill>
                  <a:schemeClr val="tx1"/>
                </a:solidFill>
                <a:sym typeface="+mn-ea"/>
              </a:rPr>
              <a:t>二、关键难点与解决方案</a:t>
            </a:r>
            <a:endParaRPr lang="zh-CN" altLang="en-US" b="1"/>
          </a:p>
        </p:txBody>
      </p:sp>
      <p:sp>
        <p:nvSpPr>
          <p:cNvPr id="4" name="内容占位符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608330" y="1539240"/>
            <a:ext cx="11194415" cy="5318125"/>
          </a:xfrm>
          <a:prstGeom prst="rect">
            <a:avLst/>
          </a:prstGeom>
        </p:spPr>
        <p:txBody>
          <a:bodyPr vert="horz" lIns="90000" tIns="46800" rIns="90000" bIns="46800" rtlCol="0"/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难点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1: 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类型转换受限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自建适配层</a:t>
            </a:r>
            <a:endParaRPr lang="zh-CN" altLang="en-US" sz="24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Font typeface="Wingdings" panose="05000000000000000000" charset="0"/>
              <a:buChar char="Ø"/>
            </a:pPr>
            <a:r>
              <a:rPr lang="zh-CN" altLang="en-US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问题：</a:t>
            </a:r>
            <a:endParaRPr lang="en-US" altLang="zh-CN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需要对向量进行数据类型转换时，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Rust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编译器的通用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SIMD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转换（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simd_cast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）只支持旧的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#[repr(simd)]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属性对应的固定长度向量，对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使用的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#[rustc_scalable_vector(N)]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属性不兼容，会直接报错。</a:t>
            </a:r>
            <a:endParaRPr lang="en-US" altLang="zh-CN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Font typeface="Wingdings" panose="05000000000000000000" charset="0"/>
              <a:buChar char="Ø"/>
            </a:pPr>
            <a:r>
              <a:rPr lang="zh-CN" altLang="en-US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解决方案：</a:t>
            </a:r>
            <a:endParaRPr lang="en-US" altLang="zh-CN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aarch64::sve::mod.rs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中自定义一层使用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位级重解释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实现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类型转换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的封装，</a:t>
            </a:r>
            <a:endParaRPr lang="en-US" altLang="zh-CN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transmute_copy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实现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simd_cast / simd_reinterpret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，可对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SVE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类型进行操作。</a:t>
            </a:r>
            <a:endParaRPr lang="en-US" altLang="zh-CN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Font typeface="Wingdings" panose="05000000000000000000" charset="0"/>
              <a:buChar char="Ø"/>
            </a:pPr>
            <a:r>
              <a:rPr lang="zh-CN" altLang="en-US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效果：</a:t>
            </a:r>
            <a:endParaRPr lang="en-US" altLang="zh-CN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上层的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代码调用封装后的转换函数，就可以对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SVE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向量进行类型转换，实现兼容。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b="1">
                <a:solidFill>
                  <a:schemeClr val="tx1"/>
                </a:solidFill>
                <a:sym typeface="+mn-ea"/>
              </a:rPr>
              <a:t>二、关键难点与解决方案</a:t>
            </a:r>
            <a:endParaRPr lang="zh-CN" altLang="en-US" b="1"/>
          </a:p>
        </p:txBody>
      </p:sp>
      <p:sp>
        <p:nvSpPr>
          <p:cNvPr id="4" name="内容占位符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608330" y="1539240"/>
            <a:ext cx="10969625" cy="5102225"/>
          </a:xfrm>
          <a:prstGeom prst="rect">
            <a:avLst/>
          </a:prstGeom>
        </p:spPr>
        <p:txBody>
          <a:bodyPr vert="horz" lIns="90000" tIns="46800" rIns="90000" bIns="46800" rtlCol="0"/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难点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2: 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谓词类型不一致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统一成标准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谓词类型</a:t>
            </a:r>
            <a:endParaRPr lang="zh-CN" altLang="en-US" sz="24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Font typeface="Wingdings" panose="05000000000000000000" charset="0"/>
              <a:buChar char="Ø"/>
            </a:pPr>
            <a:r>
              <a:rPr lang="zh-CN" altLang="en-US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问题：</a:t>
            </a:r>
            <a:endParaRPr lang="en-US" altLang="zh-CN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SVE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有多种谓词类型（不同宽度的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svboolX_t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），不同指令族对谓词格式要求不一致，使用多种宽度的掩码时，重复代码较多。</a:t>
            </a:r>
            <a:endParaRPr lang="en-US" altLang="zh-CN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Font typeface="Wingdings" panose="05000000000000000000" charset="0"/>
              <a:buChar char="Ø"/>
            </a:pPr>
            <a:r>
              <a:rPr lang="zh-CN" altLang="en-US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解决方案：</a:t>
            </a:r>
            <a:endParaRPr lang="en-US" altLang="zh-CN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在内部选定一个统一的标准谓词类型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svbool_t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，用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transmute_copy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把各类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svboolX_t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谓词转换到统一类型再进行操作，对外暴露一个统一的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simd_select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接口。</a:t>
            </a:r>
            <a:endParaRPr lang="en-US" altLang="zh-CN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Font typeface="Wingdings" panose="05000000000000000000" charset="0"/>
              <a:buChar char="Ø"/>
            </a:pPr>
            <a:r>
              <a:rPr lang="zh-CN" altLang="en-US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效果：</a:t>
            </a:r>
            <a:endParaRPr lang="en-US" altLang="zh-CN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上层使用一个统一的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掩码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+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向量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函数接口，底层自动适配不同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指令所需的具体谓词形式。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b="1">
                <a:solidFill>
                  <a:schemeClr val="tx1"/>
                </a:solidFill>
                <a:sym typeface="+mn-ea"/>
              </a:rPr>
              <a:t>二、关键难点与解决方案</a:t>
            </a:r>
            <a:endParaRPr lang="zh-CN" altLang="en-US" b="1"/>
          </a:p>
        </p:txBody>
      </p:sp>
      <p:sp>
        <p:nvSpPr>
          <p:cNvPr id="4" name="内容占位符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478155" y="1539240"/>
            <a:ext cx="11205845" cy="5049520"/>
          </a:xfrm>
          <a:prstGeom prst="rect">
            <a:avLst/>
          </a:prstGeom>
        </p:spPr>
        <p:txBody>
          <a:bodyPr vert="horz" lIns="90000" tIns="46800" rIns="90000" bIns="46800" rtlCol="0">
            <a:normAutofit fontScale="95000" lnSpcReduction="20000"/>
          </a:bodyPr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25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难点</a:t>
            </a:r>
            <a:r>
              <a:rPr lang="en-US" altLang="zh-CN" sz="25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3: </a:t>
            </a:r>
            <a:r>
              <a:rPr lang="en-US" altLang="zh-CN" sz="25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SVE</a:t>
            </a:r>
            <a:r>
              <a:rPr lang="zh-CN" altLang="en-US" sz="25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函数数量繁多</a:t>
            </a:r>
            <a:r>
              <a:rPr lang="en-US" altLang="zh-CN" sz="25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en-US" sz="25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r>
              <a:rPr lang="en-US" altLang="zh-CN" sz="25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25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引入代码生成器</a:t>
            </a:r>
            <a:endParaRPr lang="zh-CN" altLang="en-US" sz="25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Font typeface="Wingdings" panose="05000000000000000000" charset="0"/>
              <a:buChar char="Ø"/>
            </a:pPr>
            <a:r>
              <a:rPr lang="zh-CN" altLang="en-US" sz="1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问题：</a:t>
            </a:r>
            <a:endParaRPr lang="en-US" altLang="zh-CN" sz="19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algn="l">
              <a:buClrTx/>
              <a:buSzTx/>
              <a:buNone/>
            </a:pP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SVE/SVE2 Intrinsics 数量繁多（上千个），每个都要通过 link_name 精确绑定 LLVM 对应函数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；</a:t>
            </a:r>
            <a:endParaRPr lang="en-US" altLang="zh-CN" sz="19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algn="l">
              <a:buClrTx/>
              <a:buSzTx/>
              <a:buNone/>
            </a:pP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</a:t>
            </a: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：svabd_f32_m 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绑定</a:t>
            </a: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llvm.aarch64.sve.fabd.nxv4f32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；</a:t>
            </a:r>
            <a:endParaRPr lang="en-US" altLang="zh-CN" sz="19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algn="l">
              <a:buClrTx/>
              <a:buSzTx/>
              <a:buNone/>
            </a:pP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如果在多个地方“手写绑定”</a:t>
            </a: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，容易造成重名、冲突或与 LLVM 版本脱节。</a:t>
            </a:r>
            <a:endParaRPr lang="en-US" altLang="zh-CN" sz="19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Font typeface="Wingdings" panose="05000000000000000000" charset="0"/>
              <a:buChar char="Ø"/>
            </a:pPr>
            <a:r>
              <a:rPr lang="zh-CN" altLang="en-US" sz="1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解决方案：</a:t>
            </a:r>
            <a:endParaRPr lang="en-US" altLang="zh-CN" sz="19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</a:t>
            </a: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stdarch-gen2 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工具，基于模板自动生成</a:t>
            </a: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 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</a:t>
            </a: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LLVM Intrinsics 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的绑定代码；</a:t>
            </a:r>
            <a:endParaRPr lang="en-US" altLang="zh-CN" sz="19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统一导入标准库，形成集中、规范的</a:t>
            </a: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 API 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接口支持。</a:t>
            </a:r>
            <a:endParaRPr lang="en-US" altLang="zh-CN" sz="19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Font typeface="Wingdings" panose="05000000000000000000" charset="0"/>
              <a:buChar char="Ø"/>
            </a:pPr>
            <a:r>
              <a:rPr lang="zh-CN" altLang="en-US" sz="1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效果：</a:t>
            </a:r>
            <a:endParaRPr lang="en-US" altLang="zh-CN" sz="19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已实现</a:t>
            </a: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1852 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</a:t>
            </a: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Intrinsics 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批量接入；</a:t>
            </a:r>
            <a:endParaRPr lang="en-US" altLang="zh-CN" sz="19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降低了维护成本，后续只需维护模板，而不用逐个函数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维护。</a:t>
            </a:r>
            <a:endParaRPr lang="zh-CN" altLang="en-US" sz="19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b="1"/>
              <a:t>三、总结与展望</a:t>
            </a:r>
            <a:endParaRPr lang="zh-CN" altLang="en-US" b="1"/>
          </a:p>
        </p:txBody>
      </p:sp>
      <p:sp>
        <p:nvSpPr>
          <p:cNvPr id="4" name="内容占位符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608330" y="1539240"/>
            <a:ext cx="10968355" cy="5016500"/>
          </a:xfrm>
          <a:prstGeom prst="rect">
            <a:avLst/>
          </a:prstGeom>
        </p:spPr>
        <p:txBody>
          <a:bodyPr vert="horz" lIns="90000" tIns="46800" rIns="90000" bIns="46800" rtlCol="0"/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阶段性成果总结</a:t>
            </a:r>
            <a:endParaRPr lang="zh-CN" altLang="en-US" sz="24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spcBef>
                <a:spcPts val="1000"/>
              </a:spcBef>
              <a:buNone/>
            </a:pP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集成了核心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类型和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1852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Intrinsics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，相关编译错误已全部解决，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在本地分支上打通了</a:t>
            </a:r>
            <a:r>
              <a:rPr lang="zh-CN" altLang="en-US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类型定义</a:t>
            </a:r>
            <a:r>
              <a:rPr lang="en-US" altLang="zh-CN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</a:t>
            </a:r>
            <a:r>
              <a:rPr lang="en-US" altLang="en-US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→</a:t>
            </a:r>
            <a:r>
              <a:rPr lang="en-US" altLang="zh-CN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Intrinsics </a:t>
            </a:r>
            <a:r>
              <a:rPr lang="zh-CN" altLang="en-US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封装</a:t>
            </a:r>
            <a:r>
              <a:rPr lang="en-US" altLang="zh-CN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</a:t>
            </a:r>
            <a:r>
              <a:rPr lang="en-US" altLang="en-US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→</a:t>
            </a:r>
            <a:r>
              <a:rPr lang="en-US" altLang="zh-CN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</a:t>
            </a:r>
            <a:r>
              <a:rPr lang="zh-CN" altLang="zh-CN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源码</a:t>
            </a:r>
            <a:r>
              <a:rPr lang="zh-CN" altLang="en-US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编译生成</a:t>
            </a:r>
            <a:r>
              <a:rPr lang="en-US" altLang="zh-CN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IR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的链路</a:t>
            </a:r>
            <a:endParaRPr lang="zh-CN" altLang="en-US" sz="20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spcBef>
                <a:spcPts val="1000"/>
              </a:spcBef>
              <a:buNone/>
            </a:pP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针对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关键技术难点，已形成解决方案：</a:t>
            </a:r>
            <a:endParaRPr lang="en-US" altLang="zh-CN" sz="20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spcBef>
                <a:spcPts val="1000"/>
              </a:spcBef>
              <a:buFont typeface="Wingdings" panose="05000000000000000000" charset="0"/>
              <a:buChar char="Ø"/>
            </a:pPr>
            <a:r>
              <a:rPr lang="zh-CN" altLang="en-US" sz="18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类型转换适配层</a:t>
            </a:r>
            <a:endParaRPr lang="en-US" altLang="zh-CN" sz="18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spcBef>
                <a:spcPts val="1000"/>
              </a:spcBef>
              <a:buFont typeface="Wingdings" panose="05000000000000000000" charset="0"/>
              <a:buChar char="Ø"/>
            </a:pPr>
            <a:r>
              <a:rPr lang="zh-CN" altLang="en-US" sz="18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统一标准谓词类型</a:t>
            </a:r>
            <a:endParaRPr lang="en-US" altLang="zh-CN" sz="18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spcBef>
                <a:spcPts val="1000"/>
              </a:spcBef>
              <a:buFont typeface="Wingdings" panose="05000000000000000000" charset="0"/>
              <a:buChar char="Ø"/>
            </a:pPr>
            <a:r>
              <a:rPr lang="en-US" altLang="zh-CN" sz="18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SVE </a:t>
            </a:r>
            <a:r>
              <a:rPr lang="zh-CN" altLang="en-US" sz="18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函数</a:t>
            </a:r>
            <a:r>
              <a:rPr lang="zh-CN" altLang="en-US" sz="18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代码生成器</a:t>
            </a:r>
            <a:endParaRPr lang="en-US" altLang="zh-CN" sz="1775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spcBef>
                <a:spcPts val="1000"/>
              </a:spcBef>
              <a:buNone/>
            </a:pP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参考了相关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RFC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和实验性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PR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，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与社区方向对齐，具备后续提交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upstream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的基础</a:t>
            </a:r>
            <a:endParaRPr lang="zh-CN" altLang="en-US" sz="20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b="1"/>
              <a:t>三、总结与展望</a:t>
            </a:r>
            <a:endParaRPr lang="zh-CN" altLang="en-US" b="1"/>
          </a:p>
        </p:txBody>
      </p:sp>
      <p:sp>
        <p:nvSpPr>
          <p:cNvPr id="4" name="内容占位符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608330" y="1539240"/>
            <a:ext cx="10160635" cy="4707890"/>
          </a:xfrm>
          <a:prstGeom prst="rect">
            <a:avLst/>
          </a:prstGeom>
        </p:spPr>
        <p:txBody>
          <a:bodyPr vert="horz" lIns="90000" tIns="46800" rIns="90000" bIns="46800" rtlCol="0"/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后续工作重点</a:t>
            </a:r>
            <a:endParaRPr lang="zh-CN" altLang="en-US" sz="24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indent="-457200">
              <a:buAutoNum type="arabicPeriod"/>
            </a:pPr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持续跟进社区</a:t>
            </a:r>
            <a:r>
              <a:rPr lang="en-US" altLang="zh-CN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RFC / Tracking Issue/ </a:t>
            </a:r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实验性</a:t>
            </a:r>
            <a:r>
              <a:rPr lang="en-US" altLang="zh-CN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PR</a:t>
            </a:r>
            <a:endParaRPr lang="en-US" altLang="zh-CN" sz="20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buFont typeface="Wingdings" panose="05000000000000000000" charset="0"/>
              <a:buChar char="Ø"/>
            </a:pPr>
            <a:r>
              <a:rPr lang="zh-CN" altLang="en-US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紧跟</a:t>
            </a:r>
            <a:r>
              <a:rPr lang="en-US" altLang="zh-CN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Scalable Vectors </a:t>
            </a:r>
            <a:r>
              <a:rPr lang="zh-CN" altLang="zh-CN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表示方案中</a:t>
            </a:r>
            <a:r>
              <a:rPr lang="en-US" altLang="zh-CN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#[rustc_scalable_vector(N)]</a:t>
            </a:r>
            <a:r>
              <a:rPr lang="en-US" altLang="zh-CN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属性的设计演进</a:t>
            </a:r>
            <a:endParaRPr lang="en-US" altLang="zh-CN" sz="1775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buFont typeface="Wingdings" panose="05000000000000000000" charset="0"/>
              <a:buChar char="Ø"/>
            </a:pPr>
            <a:r>
              <a:rPr lang="zh-CN" altLang="en-US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及时对齐本地实现的属性命名与语义，避免与上游分叉</a:t>
            </a:r>
            <a:endParaRPr lang="en-US" altLang="zh-CN" sz="1775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indent="-457200">
              <a:buAutoNum type="arabicPeriod"/>
            </a:pPr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补充运行时验证与性能评估</a:t>
            </a:r>
            <a:endParaRPr lang="en-US" altLang="zh-CN" sz="20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buFont typeface="Wingdings" panose="05000000000000000000" charset="0"/>
              <a:buChar char="Ø"/>
            </a:pPr>
            <a:r>
              <a:rPr lang="zh-CN" altLang="en-US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在现有编译级验证的基础上，增加运行时行为测试</a:t>
            </a:r>
            <a:endParaRPr lang="en-US" altLang="zh-CN" sz="1775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buFont typeface="Wingdings" panose="05000000000000000000" charset="0"/>
              <a:buChar char="Ø"/>
            </a:pPr>
            <a:r>
              <a:rPr lang="zh-CN" altLang="en-US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在目标硬件上对比标量</a:t>
            </a:r>
            <a:r>
              <a:rPr lang="en-US" altLang="zh-CN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/ NEON / SVE </a:t>
            </a:r>
            <a:r>
              <a:rPr lang="zh-CN" altLang="en-US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性能，评估收益和优化空间</a:t>
            </a:r>
            <a:endParaRPr lang="en-US" altLang="zh-CN" sz="1775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indent="-457200">
              <a:buAutoNum type="arabicPeriod"/>
            </a:pPr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推动社区</a:t>
            </a:r>
            <a:r>
              <a:rPr lang="en-US" altLang="zh-CN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upstream </a:t>
            </a:r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贡献</a:t>
            </a:r>
            <a:endParaRPr lang="en-US" altLang="zh-CN" sz="20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buFont typeface="Wingdings" panose="05000000000000000000" charset="0"/>
              <a:buChar char="Ø"/>
            </a:pPr>
            <a:r>
              <a:rPr lang="zh-CN" altLang="en-US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在社区接口趋于稳定后，整理本地工作为</a:t>
            </a:r>
            <a:r>
              <a:rPr lang="en-US" altLang="zh-CN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PR</a:t>
            </a:r>
            <a:r>
              <a:rPr lang="zh-CN" altLang="en-US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，提交到</a:t>
            </a:r>
            <a:r>
              <a:rPr lang="en-US" altLang="zh-CN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rust-lang/stdarch</a:t>
            </a:r>
            <a:endParaRPr lang="en-US" altLang="zh-CN" sz="1775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buFont typeface="Wingdings" panose="05000000000000000000" charset="0"/>
              <a:buChar char="Ø"/>
            </a:pPr>
            <a:r>
              <a:rPr lang="zh-CN" altLang="en-US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争取将现有成果转化为正式</a:t>
            </a:r>
            <a:r>
              <a:rPr lang="en-US" altLang="zh-CN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upstream </a:t>
            </a:r>
            <a:r>
              <a:rPr lang="zh-CN" altLang="en-US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贡献</a:t>
            </a:r>
            <a:endParaRPr lang="zh-CN" altLang="en-US" sz="1775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2550</Words>
  <Application>WPS 演示</Application>
  <PresentationFormat>宽屏</PresentationFormat>
  <Paragraphs>104</Paragraphs>
  <Slides>11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9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——在Rust编译器标准库中集成Aarch64 SVE类型和Intrinsics</vt:lpstr>
      <vt:lpstr>目录</vt:lpstr>
      <vt:lpstr>一、项目概况</vt:lpstr>
      <vt:lpstr>一、项目概况</vt:lpstr>
      <vt:lpstr>一、项目概况</vt:lpstr>
      <vt:lpstr>二、关键难点与解决方案</vt:lpstr>
      <vt:lpstr>二、关键难点与解决方案</vt:lpstr>
      <vt:lpstr>二、关键难点与解决方案</vt:lpstr>
      <vt:lpstr>二、关键难点与解决方案</vt:lpstr>
      <vt:lpstr>三、总结与展望</vt:lpstr>
      <vt:lpstr>三、总结与展望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汪旭辉</cp:lastModifiedBy>
  <cp:revision>191</cp:revision>
  <dcterms:created xsi:type="dcterms:W3CDTF">2019-06-19T02:08:00Z</dcterms:created>
  <dcterms:modified xsi:type="dcterms:W3CDTF">2025-12-04T07:53:15Z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2713DE84C7D841ED8EC933FA0D28367B_11</vt:lpwstr>
  </property>
</Properties>
</file>